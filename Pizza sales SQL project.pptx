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oto Serif Display ExtraCondensed" charset="1" panose="02020506080505020204"/>
      <p:regular r:id="rId20"/>
    </p:embeddedFont>
    <p:embeddedFont>
      <p:font typeface="Mistrully" charset="1" panose="00000000000000000000"/>
      <p:regular r:id="rId21"/>
    </p:embeddedFont>
    <p:embeddedFont>
      <p:font typeface="Helvetica World" charset="1" panose="020B0500040000020004"/>
      <p:regular r:id="rId22"/>
    </p:embeddedFont>
    <p:embeddedFont>
      <p:font typeface="League Spartan" charset="1" panose="00000800000000000000"/>
      <p:regular r:id="rId23"/>
    </p:embeddedFont>
    <p:embeddedFont>
      <p:font typeface="Helvetica World Bold Italics" charset="1" panose="020B080004000009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33704"/>
            <a:ext cx="7315200" cy="3524596"/>
          </a:xfrm>
          <a:custGeom>
            <a:avLst/>
            <a:gdLst/>
            <a:ahLst/>
            <a:cxnLst/>
            <a:rect r="r" b="b" t="t" l="l"/>
            <a:pathLst>
              <a:path h="3524596" w="7315200">
                <a:moveTo>
                  <a:pt x="0" y="0"/>
                </a:moveTo>
                <a:lnTo>
                  <a:pt x="7315200" y="0"/>
                </a:lnTo>
                <a:lnTo>
                  <a:pt x="7315200" y="3524596"/>
                </a:lnTo>
                <a:lnTo>
                  <a:pt x="0" y="3524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949" y="6912"/>
            <a:ext cx="17560101" cy="580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97"/>
              </a:lnSpc>
              <a:spcBef>
                <a:spcPct val="0"/>
              </a:spcBef>
            </a:pPr>
            <a:r>
              <a:rPr lang="en-US" sz="33855" spc="-1455">
                <a:solidFill>
                  <a:srgbClr val="097D4C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PIZZA DAY</a:t>
            </a:r>
          </a:p>
        </p:txBody>
      </p:sp>
      <p:sp>
        <p:nvSpPr>
          <p:cNvPr name="TextBox 4" id="4"/>
          <p:cNvSpPr txBox="true"/>
          <p:nvPr/>
        </p:nvSpPr>
        <p:spPr>
          <a:xfrm rot="-373891">
            <a:off x="7331194" y="5956562"/>
            <a:ext cx="3567660" cy="46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6"/>
              </a:lnSpc>
              <a:spcBef>
                <a:spcPct val="0"/>
              </a:spcBef>
            </a:pPr>
            <a:r>
              <a:rPr lang="en-US" sz="2747">
                <a:solidFill>
                  <a:srgbClr val="097D4C"/>
                </a:solidFill>
                <a:latin typeface="Mistrully"/>
                <a:ea typeface="Mistrully"/>
                <a:cs typeface="Mistrully"/>
                <a:sym typeface="Mistrully"/>
              </a:rPr>
              <a:t>SQL Project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9944100" y="5733704"/>
            <a:ext cx="7315200" cy="3524596"/>
          </a:xfrm>
          <a:custGeom>
            <a:avLst/>
            <a:gdLst/>
            <a:ahLst/>
            <a:cxnLst/>
            <a:rect r="r" b="b" t="t" l="l"/>
            <a:pathLst>
              <a:path h="3524596" w="7315200">
                <a:moveTo>
                  <a:pt x="7315200" y="0"/>
                </a:moveTo>
                <a:lnTo>
                  <a:pt x="0" y="0"/>
                </a:lnTo>
                <a:lnTo>
                  <a:pt x="0" y="3524596"/>
                </a:lnTo>
                <a:lnTo>
                  <a:pt x="7315200" y="352459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7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5756" y="1424632"/>
            <a:ext cx="14316488" cy="2331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58"/>
              </a:lnSpc>
              <a:spcBef>
                <a:spcPct val="0"/>
              </a:spcBef>
            </a:pPr>
            <a:r>
              <a:rPr lang="en-US" sz="13613" spc="-585">
                <a:solidFill>
                  <a:srgbClr val="F1EAD0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WHAT IS PIZZA DAY?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739684" y="3093393"/>
            <a:ext cx="6808632" cy="6164907"/>
          </a:xfrm>
          <a:custGeom>
            <a:avLst/>
            <a:gdLst/>
            <a:ahLst/>
            <a:cxnLst/>
            <a:rect r="r" b="b" t="t" l="l"/>
            <a:pathLst>
              <a:path h="6164907" w="6808632">
                <a:moveTo>
                  <a:pt x="0" y="0"/>
                </a:moveTo>
                <a:lnTo>
                  <a:pt x="6808632" y="0"/>
                </a:lnTo>
                <a:lnTo>
                  <a:pt x="6808632" y="6164907"/>
                </a:lnTo>
                <a:lnTo>
                  <a:pt x="0" y="61649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4832" y="5114925"/>
            <a:ext cx="2337203" cy="222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PIZZA DAY IS YOUR NEIGHBORHOOD DESTINATION FOR DELICIOUS, VERSATILE PIZZAS LOVED BY MILLIONS. MORE THAN JUST A MEAL, IT’S A CELEBRATION OF FLAVOR EVERY DAY.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95271" y="6023455"/>
            <a:ext cx="2527897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 PIZZA DAY, EVERY VISIT IS A CHANCE TO EXPLORE THE HISTORY, CULTURE, AND CREATIVITY BEHIND PIZZA—WHILE SAVORING ENDLESS FLAVORS CRAFTED JUST FOR YOU.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488487">
            <a:off x="12818859" y="7913210"/>
            <a:ext cx="1006560" cy="284353"/>
          </a:xfrm>
          <a:custGeom>
            <a:avLst/>
            <a:gdLst/>
            <a:ahLst/>
            <a:cxnLst/>
            <a:rect r="r" b="b" t="t" l="l"/>
            <a:pathLst>
              <a:path h="284353" w="1006560">
                <a:moveTo>
                  <a:pt x="0" y="0"/>
                </a:moveTo>
                <a:lnTo>
                  <a:pt x="1006560" y="0"/>
                </a:lnTo>
                <a:lnTo>
                  <a:pt x="1006560" y="284353"/>
                </a:lnTo>
                <a:lnTo>
                  <a:pt x="0" y="284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330051">
            <a:off x="4451005" y="4711483"/>
            <a:ext cx="1006560" cy="284353"/>
          </a:xfrm>
          <a:custGeom>
            <a:avLst/>
            <a:gdLst/>
            <a:ahLst/>
            <a:cxnLst/>
            <a:rect r="r" b="b" t="t" l="l"/>
            <a:pathLst>
              <a:path h="284353" w="1006560">
                <a:moveTo>
                  <a:pt x="0" y="0"/>
                </a:moveTo>
                <a:lnTo>
                  <a:pt x="1006560" y="0"/>
                </a:lnTo>
                <a:lnTo>
                  <a:pt x="1006560" y="284353"/>
                </a:lnTo>
                <a:lnTo>
                  <a:pt x="0" y="284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10866">
            <a:off x="13444447" y="3125521"/>
            <a:ext cx="4729445" cy="5871772"/>
          </a:xfrm>
          <a:custGeom>
            <a:avLst/>
            <a:gdLst/>
            <a:ahLst/>
            <a:cxnLst/>
            <a:rect r="r" b="b" t="t" l="l"/>
            <a:pathLst>
              <a:path h="5871772" w="4729445">
                <a:moveTo>
                  <a:pt x="0" y="0"/>
                </a:moveTo>
                <a:lnTo>
                  <a:pt x="4729446" y="0"/>
                </a:lnTo>
                <a:lnTo>
                  <a:pt x="4729446" y="5871772"/>
                </a:lnTo>
                <a:lnTo>
                  <a:pt x="0" y="587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286031">
            <a:off x="8461650" y="2468920"/>
            <a:ext cx="539446" cy="791187"/>
          </a:xfrm>
          <a:custGeom>
            <a:avLst/>
            <a:gdLst/>
            <a:ahLst/>
            <a:cxnLst/>
            <a:rect r="r" b="b" t="t" l="l"/>
            <a:pathLst>
              <a:path h="791187" w="539446">
                <a:moveTo>
                  <a:pt x="0" y="0"/>
                </a:moveTo>
                <a:lnTo>
                  <a:pt x="539446" y="0"/>
                </a:lnTo>
                <a:lnTo>
                  <a:pt x="539446" y="791187"/>
                </a:lnTo>
                <a:lnTo>
                  <a:pt x="0" y="791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70792" y="3337343"/>
            <a:ext cx="8340472" cy="6130497"/>
          </a:xfrm>
          <a:custGeom>
            <a:avLst/>
            <a:gdLst/>
            <a:ahLst/>
            <a:cxnLst/>
            <a:rect r="r" b="b" t="t" l="l"/>
            <a:pathLst>
              <a:path h="6130497" w="8340472">
                <a:moveTo>
                  <a:pt x="0" y="0"/>
                </a:moveTo>
                <a:lnTo>
                  <a:pt x="8340473" y="0"/>
                </a:lnTo>
                <a:lnTo>
                  <a:pt x="8340473" y="6130497"/>
                </a:lnTo>
                <a:lnTo>
                  <a:pt x="0" y="6130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04333" y="787969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9277" y="787969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87969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32198" y="1748169"/>
            <a:ext cx="16573969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5000" spc="-215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DATA MODEL OF PIZZA DAYS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15105" y="3141659"/>
            <a:ext cx="4448466" cy="6116641"/>
          </a:xfrm>
          <a:custGeom>
            <a:avLst/>
            <a:gdLst/>
            <a:ahLst/>
            <a:cxnLst/>
            <a:rect r="r" b="b" t="t" l="l"/>
            <a:pathLst>
              <a:path h="6116641" w="4448466">
                <a:moveTo>
                  <a:pt x="0" y="0"/>
                </a:moveTo>
                <a:lnTo>
                  <a:pt x="4448466" y="0"/>
                </a:lnTo>
                <a:lnTo>
                  <a:pt x="4448466" y="6116641"/>
                </a:lnTo>
                <a:lnTo>
                  <a:pt x="0" y="61166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7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18" y="4036703"/>
            <a:ext cx="6379121" cy="3665095"/>
          </a:xfrm>
          <a:custGeom>
            <a:avLst/>
            <a:gdLst/>
            <a:ahLst/>
            <a:cxnLst/>
            <a:rect r="r" b="b" t="t" l="l"/>
            <a:pathLst>
              <a:path h="3665095" w="6379121">
                <a:moveTo>
                  <a:pt x="0" y="0"/>
                </a:moveTo>
                <a:lnTo>
                  <a:pt x="6379121" y="0"/>
                </a:lnTo>
                <a:lnTo>
                  <a:pt x="6379121" y="3665095"/>
                </a:lnTo>
                <a:lnTo>
                  <a:pt x="0" y="3665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5876" y="1812290"/>
            <a:ext cx="13316247" cy="110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60"/>
              </a:lnSpc>
            </a:pPr>
            <a:r>
              <a:rPr lang="en-US" sz="9365" spc="-402">
                <a:solidFill>
                  <a:srgbClr val="F1EAD0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LIST OF BUISNESS PROBLEMS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79277" y="1000125"/>
            <a:ext cx="880023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  <a:p>
            <a:pPr algn="r">
              <a:lnSpc>
                <a:spcPts val="19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1779" y="3805961"/>
            <a:ext cx="11009176" cy="528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QUESTIONS</a:t>
            </a:r>
          </a:p>
          <a:p>
            <a:pPr algn="just">
              <a:lnSpc>
                <a:spcPts val="2821"/>
              </a:lnSpc>
            </a:pP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1) Retrieve the total number of orders placed.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2) Calculate the total revenue generated from pizza sales.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3) Identify the highest-priced pizza.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4) Identify the most common pizza size ordered.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5)List the top 5 most ordered pizza types along with their quantities.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6) Join the necessary tables to find the total quantity of each pizza category ordered.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7) Determine the distribution of orders by hour of the day.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8) Join relevant tables to find the category-wise distribution of pizzas.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9) Group the orders by date and calculate the average number of pizzas ordered per day.</a:t>
            </a:r>
          </a:p>
          <a:p>
            <a:pPr algn="just">
              <a:lnSpc>
                <a:spcPts val="2821"/>
              </a:lnSpc>
            </a:pPr>
            <a:r>
              <a:rPr lang="en-US" sz="2015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10 )Analyze the cumulative revenue generated over time.</a:t>
            </a:r>
          </a:p>
          <a:p>
            <a:pPr algn="just">
              <a:lnSpc>
                <a:spcPts val="282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99564" y="8654267"/>
            <a:ext cx="4923568" cy="60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4"/>
              </a:lnSpc>
            </a:pPr>
            <a:r>
              <a:rPr lang="en-US" b="true" sz="1804" i="true">
                <a:solidFill>
                  <a:srgbClr val="F1EAD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TODAY, PIZZA IS A UNIVERSAL LANGUAGE OF COMFORT AND INDULGENCE.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97154" y="2863848"/>
            <a:ext cx="7062146" cy="6394452"/>
          </a:xfrm>
          <a:custGeom>
            <a:avLst/>
            <a:gdLst/>
            <a:ahLst/>
            <a:cxnLst/>
            <a:rect r="r" b="b" t="t" l="l"/>
            <a:pathLst>
              <a:path h="6394452" w="7062146">
                <a:moveTo>
                  <a:pt x="0" y="0"/>
                </a:moveTo>
                <a:lnTo>
                  <a:pt x="7062146" y="0"/>
                </a:lnTo>
                <a:lnTo>
                  <a:pt x="7062146" y="6394452"/>
                </a:lnTo>
                <a:lnTo>
                  <a:pt x="0" y="6394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751" y="4056936"/>
            <a:ext cx="8236422" cy="1086564"/>
          </a:xfrm>
          <a:custGeom>
            <a:avLst/>
            <a:gdLst/>
            <a:ahLst/>
            <a:cxnLst/>
            <a:rect r="r" b="b" t="t" l="l"/>
            <a:pathLst>
              <a:path h="1086564" w="8236422">
                <a:moveTo>
                  <a:pt x="0" y="0"/>
                </a:moveTo>
                <a:lnTo>
                  <a:pt x="8236422" y="0"/>
                </a:lnTo>
                <a:lnTo>
                  <a:pt x="8236422" y="1086564"/>
                </a:lnTo>
                <a:lnTo>
                  <a:pt x="0" y="108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751" y="6181982"/>
            <a:ext cx="4614477" cy="3076318"/>
          </a:xfrm>
          <a:custGeom>
            <a:avLst/>
            <a:gdLst/>
            <a:ahLst/>
            <a:cxnLst/>
            <a:rect r="r" b="b" t="t" l="l"/>
            <a:pathLst>
              <a:path h="3076318" w="4614477">
                <a:moveTo>
                  <a:pt x="0" y="0"/>
                </a:moveTo>
                <a:lnTo>
                  <a:pt x="4614477" y="0"/>
                </a:lnTo>
                <a:lnTo>
                  <a:pt x="4614477" y="3076318"/>
                </a:lnTo>
                <a:lnTo>
                  <a:pt x="0" y="3076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0910" y="1916970"/>
            <a:ext cx="16573969" cy="57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5000" spc="-215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1) RETRIEVE THE TOTAL NUMBER OF ORDERS PLACED.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8751" y="3462573"/>
            <a:ext cx="492356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78751" y="5786751"/>
            <a:ext cx="4923568" cy="27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367514">
            <a:off x="6939161" y="5365338"/>
            <a:ext cx="703243" cy="1031424"/>
          </a:xfrm>
          <a:custGeom>
            <a:avLst/>
            <a:gdLst/>
            <a:ahLst/>
            <a:cxnLst/>
            <a:rect r="r" b="b" t="t" l="l"/>
            <a:pathLst>
              <a:path h="1031424" w="703243">
                <a:moveTo>
                  <a:pt x="0" y="0"/>
                </a:moveTo>
                <a:lnTo>
                  <a:pt x="703243" y="0"/>
                </a:lnTo>
                <a:lnTo>
                  <a:pt x="703243" y="1031424"/>
                </a:lnTo>
                <a:lnTo>
                  <a:pt x="0" y="1031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7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90826" y="2632485"/>
            <a:ext cx="5511792" cy="7066400"/>
          </a:xfrm>
          <a:custGeom>
            <a:avLst/>
            <a:gdLst/>
            <a:ahLst/>
            <a:cxnLst/>
            <a:rect r="r" b="b" t="t" l="l"/>
            <a:pathLst>
              <a:path h="7066400" w="5511792">
                <a:moveTo>
                  <a:pt x="0" y="0"/>
                </a:moveTo>
                <a:lnTo>
                  <a:pt x="5511792" y="0"/>
                </a:lnTo>
                <a:lnTo>
                  <a:pt x="5511792" y="7066400"/>
                </a:lnTo>
                <a:lnTo>
                  <a:pt x="0" y="706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78446" y="7876545"/>
            <a:ext cx="5351284" cy="1980414"/>
          </a:xfrm>
          <a:custGeom>
            <a:avLst/>
            <a:gdLst/>
            <a:ahLst/>
            <a:cxnLst/>
            <a:rect r="r" b="b" t="t" l="l"/>
            <a:pathLst>
              <a:path h="1980414" w="5351284">
                <a:moveTo>
                  <a:pt x="0" y="0"/>
                </a:moveTo>
                <a:lnTo>
                  <a:pt x="5351284" y="0"/>
                </a:lnTo>
                <a:lnTo>
                  <a:pt x="5351284" y="1980414"/>
                </a:lnTo>
                <a:lnTo>
                  <a:pt x="0" y="1980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7" t="0" r="-81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5156" y="4190521"/>
            <a:ext cx="9842009" cy="3321678"/>
          </a:xfrm>
          <a:custGeom>
            <a:avLst/>
            <a:gdLst/>
            <a:ahLst/>
            <a:cxnLst/>
            <a:rect r="r" b="b" t="t" l="l"/>
            <a:pathLst>
              <a:path h="3321678" w="9842009">
                <a:moveTo>
                  <a:pt x="0" y="0"/>
                </a:moveTo>
                <a:lnTo>
                  <a:pt x="9842009" y="0"/>
                </a:lnTo>
                <a:lnTo>
                  <a:pt x="9842009" y="3321678"/>
                </a:lnTo>
                <a:lnTo>
                  <a:pt x="0" y="3321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3969" y="1624730"/>
            <a:ext cx="16720062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sz="5000" spc="-215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2) CALCULATE THE TOTAL REVENUE GENERATED FROM PIZZA SALES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156" y="3678076"/>
            <a:ext cx="492356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95156" y="8592432"/>
            <a:ext cx="4923568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21337">
            <a:off x="10089196" y="6226491"/>
            <a:ext cx="8132203" cy="3918243"/>
          </a:xfrm>
          <a:custGeom>
            <a:avLst/>
            <a:gdLst/>
            <a:ahLst/>
            <a:cxnLst/>
            <a:rect r="r" b="b" t="t" l="l"/>
            <a:pathLst>
              <a:path h="3918243" w="8132203">
                <a:moveTo>
                  <a:pt x="8132202" y="0"/>
                </a:moveTo>
                <a:lnTo>
                  <a:pt x="0" y="0"/>
                </a:lnTo>
                <a:lnTo>
                  <a:pt x="0" y="3918243"/>
                </a:lnTo>
                <a:lnTo>
                  <a:pt x="8132202" y="3918243"/>
                </a:lnTo>
                <a:lnTo>
                  <a:pt x="81322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31617" y="7344589"/>
            <a:ext cx="6325878" cy="1913711"/>
          </a:xfrm>
          <a:custGeom>
            <a:avLst/>
            <a:gdLst/>
            <a:ahLst/>
            <a:cxnLst/>
            <a:rect r="r" b="b" t="t" l="l"/>
            <a:pathLst>
              <a:path h="1913711" w="6325878">
                <a:moveTo>
                  <a:pt x="0" y="0"/>
                </a:moveTo>
                <a:lnTo>
                  <a:pt x="6325878" y="0"/>
                </a:lnTo>
                <a:lnTo>
                  <a:pt x="6325878" y="1913711"/>
                </a:lnTo>
                <a:lnTo>
                  <a:pt x="0" y="1913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281719" y="481698"/>
            <a:ext cx="3977581" cy="5469174"/>
          </a:xfrm>
          <a:custGeom>
            <a:avLst/>
            <a:gdLst/>
            <a:ahLst/>
            <a:cxnLst/>
            <a:rect r="r" b="b" t="t" l="l"/>
            <a:pathLst>
              <a:path h="5469174" w="3977581">
                <a:moveTo>
                  <a:pt x="0" y="0"/>
                </a:moveTo>
                <a:lnTo>
                  <a:pt x="3977581" y="0"/>
                </a:lnTo>
                <a:lnTo>
                  <a:pt x="3977581" y="5469173"/>
                </a:lnTo>
                <a:lnTo>
                  <a:pt x="0" y="54691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367514">
            <a:off x="9205929" y="6647039"/>
            <a:ext cx="703243" cy="1031424"/>
          </a:xfrm>
          <a:custGeom>
            <a:avLst/>
            <a:gdLst/>
            <a:ahLst/>
            <a:cxnLst/>
            <a:rect r="r" b="b" t="t" l="l"/>
            <a:pathLst>
              <a:path h="1031424" w="703243">
                <a:moveTo>
                  <a:pt x="0" y="0"/>
                </a:moveTo>
                <a:lnTo>
                  <a:pt x="703244" y="0"/>
                </a:lnTo>
                <a:lnTo>
                  <a:pt x="703244" y="1031423"/>
                </a:lnTo>
                <a:lnTo>
                  <a:pt x="0" y="1031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71258" y="2896980"/>
            <a:ext cx="10219212" cy="4157315"/>
          </a:xfrm>
          <a:custGeom>
            <a:avLst/>
            <a:gdLst/>
            <a:ahLst/>
            <a:cxnLst/>
            <a:rect r="r" b="b" t="t" l="l"/>
            <a:pathLst>
              <a:path h="4157315" w="10219212">
                <a:moveTo>
                  <a:pt x="0" y="0"/>
                </a:moveTo>
                <a:lnTo>
                  <a:pt x="10219211" y="0"/>
                </a:lnTo>
                <a:lnTo>
                  <a:pt x="10219211" y="4157314"/>
                </a:lnTo>
                <a:lnTo>
                  <a:pt x="0" y="41573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2379088" y="2012960"/>
            <a:ext cx="15561161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250"/>
              </a:lnSpc>
              <a:spcBef>
                <a:spcPct val="0"/>
              </a:spcBef>
            </a:pPr>
            <a:r>
              <a:rPr lang="en-US" sz="5000" spc="-215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3) IDENTIFY THE HIGHEST-PRICED PIZZA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721" y="3302010"/>
            <a:ext cx="492356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624207"/>
            <a:ext cx="4923568" cy="27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7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11655" y="2808446"/>
            <a:ext cx="9347645" cy="4946660"/>
          </a:xfrm>
          <a:custGeom>
            <a:avLst/>
            <a:gdLst/>
            <a:ahLst/>
            <a:cxnLst/>
            <a:rect r="r" b="b" t="t" l="l"/>
            <a:pathLst>
              <a:path h="4946660" w="9347645">
                <a:moveTo>
                  <a:pt x="0" y="0"/>
                </a:moveTo>
                <a:lnTo>
                  <a:pt x="9347645" y="0"/>
                </a:lnTo>
                <a:lnTo>
                  <a:pt x="9347645" y="4946660"/>
                </a:lnTo>
                <a:lnTo>
                  <a:pt x="0" y="4946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1167" y="7951795"/>
            <a:ext cx="4668621" cy="1963215"/>
          </a:xfrm>
          <a:custGeom>
            <a:avLst/>
            <a:gdLst/>
            <a:ahLst/>
            <a:cxnLst/>
            <a:rect r="r" b="b" t="t" l="l"/>
            <a:pathLst>
              <a:path h="1963215" w="4668621">
                <a:moveTo>
                  <a:pt x="0" y="0"/>
                </a:moveTo>
                <a:lnTo>
                  <a:pt x="4668621" y="0"/>
                </a:lnTo>
                <a:lnTo>
                  <a:pt x="4668621" y="1963215"/>
                </a:lnTo>
                <a:lnTo>
                  <a:pt x="0" y="1963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0687" y="1747714"/>
            <a:ext cx="1706662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 spc="-215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4) IDENTIFY THE MOST COMMON PIZZA SIZE ORDERED.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8" id="8"/>
          <p:cNvSpPr txBox="true"/>
          <p:nvPr/>
        </p:nvSpPr>
        <p:spPr>
          <a:xfrm rot="-799375">
            <a:off x="360005" y="4523368"/>
            <a:ext cx="7146397" cy="255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72"/>
              </a:lnSpc>
              <a:spcBef>
                <a:spcPct val="0"/>
              </a:spcBef>
            </a:pPr>
            <a:r>
              <a:rPr lang="en-US" sz="7337">
                <a:solidFill>
                  <a:srgbClr val="F1EAD0"/>
                </a:solidFill>
                <a:latin typeface="Mistrully"/>
                <a:ea typeface="Mistrully"/>
                <a:cs typeface="Mistrully"/>
                <a:sym typeface="Mistrully"/>
              </a:rPr>
              <a:t>More than food—it’s a cultural phenomenon.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41554" y="2894171"/>
            <a:ext cx="157010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41554" y="8488771"/>
            <a:ext cx="1515779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4021">
            <a:off x="206627" y="5523919"/>
            <a:ext cx="4057435" cy="4582319"/>
          </a:xfrm>
          <a:custGeom>
            <a:avLst/>
            <a:gdLst/>
            <a:ahLst/>
            <a:cxnLst/>
            <a:rect r="r" b="b" t="t" l="l"/>
            <a:pathLst>
              <a:path h="4582319" w="4057435">
                <a:moveTo>
                  <a:pt x="0" y="0"/>
                </a:moveTo>
                <a:lnTo>
                  <a:pt x="4057435" y="0"/>
                </a:lnTo>
                <a:lnTo>
                  <a:pt x="4057435" y="4582319"/>
                </a:lnTo>
                <a:lnTo>
                  <a:pt x="0" y="4582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50331" y="2764555"/>
            <a:ext cx="11293791" cy="3981061"/>
          </a:xfrm>
          <a:custGeom>
            <a:avLst/>
            <a:gdLst/>
            <a:ahLst/>
            <a:cxnLst/>
            <a:rect r="r" b="b" t="t" l="l"/>
            <a:pathLst>
              <a:path h="3981061" w="11293791">
                <a:moveTo>
                  <a:pt x="0" y="0"/>
                </a:moveTo>
                <a:lnTo>
                  <a:pt x="11293791" y="0"/>
                </a:lnTo>
                <a:lnTo>
                  <a:pt x="11293791" y="3981061"/>
                </a:lnTo>
                <a:lnTo>
                  <a:pt x="0" y="398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48582" y="7099624"/>
            <a:ext cx="5930259" cy="2911991"/>
          </a:xfrm>
          <a:custGeom>
            <a:avLst/>
            <a:gdLst/>
            <a:ahLst/>
            <a:cxnLst/>
            <a:rect r="r" b="b" t="t" l="l"/>
            <a:pathLst>
              <a:path h="2911991" w="5930259">
                <a:moveTo>
                  <a:pt x="0" y="0"/>
                </a:moveTo>
                <a:lnTo>
                  <a:pt x="5930259" y="0"/>
                </a:lnTo>
                <a:lnTo>
                  <a:pt x="5930259" y="2911991"/>
                </a:lnTo>
                <a:lnTo>
                  <a:pt x="0" y="2911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04333" y="36315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04110" y="36315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315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903" y="1258387"/>
            <a:ext cx="1791219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 spc="-215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5) LIST THE TOP 5 MOST ORDERED PIZZA TYPES ALONG WITH THEIR QUANTITIES.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4268" y="2850280"/>
            <a:ext cx="492356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682216" y="7450466"/>
            <a:ext cx="4923568" cy="27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367514">
            <a:off x="14678344" y="6849029"/>
            <a:ext cx="703243" cy="1031424"/>
          </a:xfrm>
          <a:custGeom>
            <a:avLst/>
            <a:gdLst/>
            <a:ahLst/>
            <a:cxnLst/>
            <a:rect r="r" b="b" t="t" l="l"/>
            <a:pathLst>
              <a:path h="1031424" w="703243">
                <a:moveTo>
                  <a:pt x="0" y="0"/>
                </a:moveTo>
                <a:lnTo>
                  <a:pt x="703243" y="0"/>
                </a:lnTo>
                <a:lnTo>
                  <a:pt x="703243" y="1031424"/>
                </a:lnTo>
                <a:lnTo>
                  <a:pt x="0" y="1031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7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4868" y="3961713"/>
            <a:ext cx="6596734" cy="5973042"/>
          </a:xfrm>
          <a:custGeom>
            <a:avLst/>
            <a:gdLst/>
            <a:ahLst/>
            <a:cxnLst/>
            <a:rect r="r" b="b" t="t" l="l"/>
            <a:pathLst>
              <a:path h="5973042" w="6596734">
                <a:moveTo>
                  <a:pt x="0" y="0"/>
                </a:moveTo>
                <a:lnTo>
                  <a:pt x="6596734" y="0"/>
                </a:lnTo>
                <a:lnTo>
                  <a:pt x="6596734" y="5973042"/>
                </a:lnTo>
                <a:lnTo>
                  <a:pt x="0" y="5973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57029">
            <a:off x="15547607" y="2305082"/>
            <a:ext cx="1663339" cy="1291356"/>
          </a:xfrm>
          <a:custGeom>
            <a:avLst/>
            <a:gdLst/>
            <a:ahLst/>
            <a:cxnLst/>
            <a:rect r="r" b="b" t="t" l="l"/>
            <a:pathLst>
              <a:path h="1291356" w="1663339">
                <a:moveTo>
                  <a:pt x="0" y="0"/>
                </a:moveTo>
                <a:lnTo>
                  <a:pt x="1663339" y="0"/>
                </a:lnTo>
                <a:lnTo>
                  <a:pt x="1663339" y="1291355"/>
                </a:lnTo>
                <a:lnTo>
                  <a:pt x="0" y="12913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2422" y="3285258"/>
            <a:ext cx="10021245" cy="3945865"/>
          </a:xfrm>
          <a:custGeom>
            <a:avLst/>
            <a:gdLst/>
            <a:ahLst/>
            <a:cxnLst/>
            <a:rect r="r" b="b" t="t" l="l"/>
            <a:pathLst>
              <a:path h="3945865" w="10021245">
                <a:moveTo>
                  <a:pt x="0" y="0"/>
                </a:moveTo>
                <a:lnTo>
                  <a:pt x="10021245" y="0"/>
                </a:lnTo>
                <a:lnTo>
                  <a:pt x="10021245" y="3945865"/>
                </a:lnTo>
                <a:lnTo>
                  <a:pt x="0" y="394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79854" y="7519033"/>
            <a:ext cx="5403813" cy="2539386"/>
          </a:xfrm>
          <a:custGeom>
            <a:avLst/>
            <a:gdLst/>
            <a:ahLst/>
            <a:cxnLst/>
            <a:rect r="r" b="b" t="t" l="l"/>
            <a:pathLst>
              <a:path h="2539386" w="5403813">
                <a:moveTo>
                  <a:pt x="0" y="0"/>
                </a:moveTo>
                <a:lnTo>
                  <a:pt x="5403813" y="0"/>
                </a:lnTo>
                <a:lnTo>
                  <a:pt x="5403813" y="2539386"/>
                </a:lnTo>
                <a:lnTo>
                  <a:pt x="0" y="2539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04333" y="347231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27094" y="347231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0170" y="347231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9" id="9"/>
          <p:cNvSpPr txBox="true"/>
          <p:nvPr/>
        </p:nvSpPr>
        <p:spPr>
          <a:xfrm rot="-693107">
            <a:off x="11221532" y="2719058"/>
            <a:ext cx="4038545" cy="107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4"/>
              </a:lnSpc>
              <a:spcBef>
                <a:spcPct val="0"/>
              </a:spcBef>
            </a:pPr>
            <a:r>
              <a:rPr lang="en-US" sz="3102">
                <a:solidFill>
                  <a:srgbClr val="F1EAD0"/>
                </a:solidFill>
                <a:latin typeface="Mistrully"/>
                <a:ea typeface="Mistrully"/>
                <a:cs typeface="Mistrully"/>
                <a:sym typeface="Mistrully"/>
              </a:rPr>
              <a:t>Where the fun is as endless as the toppings.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6800" y="948550"/>
            <a:ext cx="1746473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 spc="-215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6) JOIN THE NECESSARY TABLES TO FIND THE TOTAL QUANTITY OF EACH PIZZA CATEGORY ORDERED.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6800" y="2774175"/>
            <a:ext cx="157010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664075" y="7604758"/>
            <a:ext cx="1515779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7972">
            <a:off x="6398780" y="5398288"/>
            <a:ext cx="6583471" cy="5589965"/>
          </a:xfrm>
          <a:custGeom>
            <a:avLst/>
            <a:gdLst/>
            <a:ahLst/>
            <a:cxnLst/>
            <a:rect r="r" b="b" t="t" l="l"/>
            <a:pathLst>
              <a:path h="5589965" w="6583471">
                <a:moveTo>
                  <a:pt x="0" y="0"/>
                </a:moveTo>
                <a:lnTo>
                  <a:pt x="6583471" y="0"/>
                </a:lnTo>
                <a:lnTo>
                  <a:pt x="6583471" y="5589965"/>
                </a:lnTo>
                <a:lnTo>
                  <a:pt x="0" y="5589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373972"/>
            <a:ext cx="4146852" cy="5701922"/>
          </a:xfrm>
          <a:custGeom>
            <a:avLst/>
            <a:gdLst/>
            <a:ahLst/>
            <a:cxnLst/>
            <a:rect r="r" b="b" t="t" l="l"/>
            <a:pathLst>
              <a:path h="5701922" w="4146852">
                <a:moveTo>
                  <a:pt x="0" y="0"/>
                </a:moveTo>
                <a:lnTo>
                  <a:pt x="4146852" y="0"/>
                </a:lnTo>
                <a:lnTo>
                  <a:pt x="4146852" y="5701922"/>
                </a:lnTo>
                <a:lnTo>
                  <a:pt x="0" y="5701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46852" y="2798776"/>
            <a:ext cx="8921221" cy="2230305"/>
          </a:xfrm>
          <a:custGeom>
            <a:avLst/>
            <a:gdLst/>
            <a:ahLst/>
            <a:cxnLst/>
            <a:rect r="r" b="b" t="t" l="l"/>
            <a:pathLst>
              <a:path h="2230305" w="8921221">
                <a:moveTo>
                  <a:pt x="0" y="0"/>
                </a:moveTo>
                <a:lnTo>
                  <a:pt x="8921222" y="0"/>
                </a:lnTo>
                <a:lnTo>
                  <a:pt x="8921222" y="2230306"/>
                </a:lnTo>
                <a:lnTo>
                  <a:pt x="0" y="2230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68398" y="3261463"/>
            <a:ext cx="3158923" cy="6666418"/>
          </a:xfrm>
          <a:custGeom>
            <a:avLst/>
            <a:gdLst/>
            <a:ahLst/>
            <a:cxnLst/>
            <a:rect r="r" b="b" t="t" l="l"/>
            <a:pathLst>
              <a:path h="6666418" w="3158923">
                <a:moveTo>
                  <a:pt x="0" y="0"/>
                </a:moveTo>
                <a:lnTo>
                  <a:pt x="3158924" y="0"/>
                </a:lnTo>
                <a:lnTo>
                  <a:pt x="3158924" y="6666417"/>
                </a:lnTo>
                <a:lnTo>
                  <a:pt x="0" y="66664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04333" y="426852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0270" y="426852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942" y="426852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573273" y="1197012"/>
            <a:ext cx="1369226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 spc="-215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7) DETERMINE THE DISTRIBUTION OF ORDERS BY HOUR OF THE DAY.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80766" y="2934923"/>
            <a:ext cx="492356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364432" y="3533093"/>
            <a:ext cx="4923568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8815244">
            <a:off x="13175918" y="4890291"/>
            <a:ext cx="936482" cy="1373507"/>
          </a:xfrm>
          <a:custGeom>
            <a:avLst/>
            <a:gdLst/>
            <a:ahLst/>
            <a:cxnLst/>
            <a:rect r="r" b="b" t="t" l="l"/>
            <a:pathLst>
              <a:path h="1373507" w="936482">
                <a:moveTo>
                  <a:pt x="936482" y="0"/>
                </a:moveTo>
                <a:lnTo>
                  <a:pt x="0" y="0"/>
                </a:lnTo>
                <a:lnTo>
                  <a:pt x="0" y="1373507"/>
                </a:lnTo>
                <a:lnTo>
                  <a:pt x="936482" y="1373507"/>
                </a:lnTo>
                <a:lnTo>
                  <a:pt x="93648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7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53233">
            <a:off x="4892960" y="8854670"/>
            <a:ext cx="1006560" cy="284353"/>
          </a:xfrm>
          <a:custGeom>
            <a:avLst/>
            <a:gdLst/>
            <a:ahLst/>
            <a:cxnLst/>
            <a:rect r="r" b="b" t="t" l="l"/>
            <a:pathLst>
              <a:path h="284353" w="1006560">
                <a:moveTo>
                  <a:pt x="0" y="0"/>
                </a:moveTo>
                <a:lnTo>
                  <a:pt x="1006560" y="0"/>
                </a:lnTo>
                <a:lnTo>
                  <a:pt x="1006560" y="284353"/>
                </a:lnTo>
                <a:lnTo>
                  <a:pt x="0" y="28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0953" y="3408586"/>
            <a:ext cx="9849767" cy="3159078"/>
          </a:xfrm>
          <a:custGeom>
            <a:avLst/>
            <a:gdLst/>
            <a:ahLst/>
            <a:cxnLst/>
            <a:rect r="r" b="b" t="t" l="l"/>
            <a:pathLst>
              <a:path h="3159078" w="9849767">
                <a:moveTo>
                  <a:pt x="0" y="0"/>
                </a:moveTo>
                <a:lnTo>
                  <a:pt x="9849767" y="0"/>
                </a:lnTo>
                <a:lnTo>
                  <a:pt x="9849767" y="3159078"/>
                </a:lnTo>
                <a:lnTo>
                  <a:pt x="0" y="3159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34847" y="3280921"/>
            <a:ext cx="3091285" cy="6457821"/>
          </a:xfrm>
          <a:custGeom>
            <a:avLst/>
            <a:gdLst/>
            <a:ahLst/>
            <a:cxnLst/>
            <a:rect r="r" b="b" t="t" l="l"/>
            <a:pathLst>
              <a:path h="6457821" w="3091285">
                <a:moveTo>
                  <a:pt x="0" y="0"/>
                </a:moveTo>
                <a:lnTo>
                  <a:pt x="3091285" y="0"/>
                </a:lnTo>
                <a:lnTo>
                  <a:pt x="3091285" y="6457821"/>
                </a:lnTo>
                <a:lnTo>
                  <a:pt x="0" y="64578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F1EAD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14018" y="8794337"/>
            <a:ext cx="7059964" cy="46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6"/>
              </a:lnSpc>
              <a:spcBef>
                <a:spcPct val="0"/>
              </a:spcBef>
            </a:pPr>
            <a:r>
              <a:rPr lang="en-US" sz="2747">
                <a:solidFill>
                  <a:srgbClr val="F1EAD0"/>
                </a:solidFill>
                <a:latin typeface="Mistrully"/>
                <a:ea typeface="Mistrully"/>
                <a:cs typeface="Mistrully"/>
                <a:sym typeface="Mistrully"/>
              </a:rPr>
              <a:t>Crafting the perfect pie, right in your kitchen.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4952" y="1569595"/>
            <a:ext cx="1746473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sz="5000" spc="-215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9) GROUP THE ORDERS BY DATE AND CALCULATE THE AVERAGE NUMBER OF PIZZAS ORDERED PER DAY.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3861" y="3494311"/>
            <a:ext cx="157010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148356" y="3494311"/>
            <a:ext cx="1515779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F1EAD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10866">
            <a:off x="676843" y="2664720"/>
            <a:ext cx="5739567" cy="7125873"/>
          </a:xfrm>
          <a:custGeom>
            <a:avLst/>
            <a:gdLst/>
            <a:ahLst/>
            <a:cxnLst/>
            <a:rect r="r" b="b" t="t" l="l"/>
            <a:pathLst>
              <a:path h="7125873" w="5739567">
                <a:moveTo>
                  <a:pt x="0" y="0"/>
                </a:moveTo>
                <a:lnTo>
                  <a:pt x="5739567" y="0"/>
                </a:lnTo>
                <a:lnTo>
                  <a:pt x="5739567" y="7125873"/>
                </a:lnTo>
                <a:lnTo>
                  <a:pt x="0" y="7125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2510" y="2468892"/>
            <a:ext cx="10955618" cy="2553684"/>
          </a:xfrm>
          <a:custGeom>
            <a:avLst/>
            <a:gdLst/>
            <a:ahLst/>
            <a:cxnLst/>
            <a:rect r="r" b="b" t="t" l="l"/>
            <a:pathLst>
              <a:path h="2553684" w="10955618">
                <a:moveTo>
                  <a:pt x="0" y="0"/>
                </a:moveTo>
                <a:lnTo>
                  <a:pt x="10955618" y="0"/>
                </a:lnTo>
                <a:lnTo>
                  <a:pt x="10955618" y="2553683"/>
                </a:lnTo>
                <a:lnTo>
                  <a:pt x="0" y="2553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41543" y="5215881"/>
            <a:ext cx="6141507" cy="4891466"/>
          </a:xfrm>
          <a:custGeom>
            <a:avLst/>
            <a:gdLst/>
            <a:ahLst/>
            <a:cxnLst/>
            <a:rect r="r" b="b" t="t" l="l"/>
            <a:pathLst>
              <a:path h="4891466" w="6141507">
                <a:moveTo>
                  <a:pt x="0" y="0"/>
                </a:moveTo>
                <a:lnTo>
                  <a:pt x="6141507" y="0"/>
                </a:lnTo>
                <a:lnTo>
                  <a:pt x="6141507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08788" y="326166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35958" y="326232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6232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2499" y="931917"/>
            <a:ext cx="17832573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 spc="-215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10)CALCULATE THE PERCENTAGE CONTRIBUTION OF EACH PIZZA TYPE TO TOTAL REVENUE.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47130" y="2818860"/>
            <a:ext cx="1834264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QUERY</a:t>
            </a:r>
          </a:p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962510" y="5489300"/>
            <a:ext cx="1436158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2400" spc="-103">
                <a:solidFill>
                  <a:srgbClr val="097D4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584897">
            <a:off x="15359634" y="5174257"/>
            <a:ext cx="1031085" cy="1512258"/>
          </a:xfrm>
          <a:custGeom>
            <a:avLst/>
            <a:gdLst/>
            <a:ahLst/>
            <a:cxnLst/>
            <a:rect r="r" b="b" t="t" l="l"/>
            <a:pathLst>
              <a:path h="1512258" w="1031085">
                <a:moveTo>
                  <a:pt x="0" y="0"/>
                </a:moveTo>
                <a:lnTo>
                  <a:pt x="1031085" y="0"/>
                </a:lnTo>
                <a:lnTo>
                  <a:pt x="1031085" y="1512258"/>
                </a:lnTo>
                <a:lnTo>
                  <a:pt x="0" y="1512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71828"/>
            <a:ext cx="16230600" cy="326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71"/>
              </a:lnSpc>
            </a:pPr>
            <a:r>
              <a:rPr lang="en-US" sz="27495" spc="-1182">
                <a:solidFill>
                  <a:srgbClr val="097D4C"/>
                </a:solidFill>
                <a:latin typeface="Noto Serif Display ExtraCondensed"/>
                <a:ea typeface="Noto Serif Display ExtraCondensed"/>
                <a:cs typeface="Noto Serif Display ExtraCondensed"/>
                <a:sym typeface="Noto Serif Display ExtraCondense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04333" y="1000125"/>
            <a:ext cx="287933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SALFORD &amp; CO.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79277" y="1000125"/>
            <a:ext cx="8800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00125"/>
            <a:ext cx="12645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APRIL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5268891" y="4499093"/>
            <a:ext cx="7750217" cy="3734196"/>
          </a:xfrm>
          <a:custGeom>
            <a:avLst/>
            <a:gdLst/>
            <a:ahLst/>
            <a:cxnLst/>
            <a:rect r="r" b="b" t="t" l="l"/>
            <a:pathLst>
              <a:path h="3734196" w="7750217">
                <a:moveTo>
                  <a:pt x="7750218" y="0"/>
                </a:moveTo>
                <a:lnTo>
                  <a:pt x="0" y="0"/>
                </a:lnTo>
                <a:lnTo>
                  <a:pt x="0" y="3734195"/>
                </a:lnTo>
                <a:lnTo>
                  <a:pt x="7750218" y="3734195"/>
                </a:lnTo>
                <a:lnTo>
                  <a:pt x="77502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34078" y="9017569"/>
            <a:ext cx="4819844" cy="24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spc="134">
                <a:solidFill>
                  <a:srgbClr val="097D4C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123 ANYWHERE ST., ANY CITY, ST 12345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DAHGV_UzsfE</dc:identifier>
  <dcterms:modified xsi:type="dcterms:W3CDTF">2011-08-01T06:04:30Z</dcterms:modified>
  <cp:revision>1</cp:revision>
  <dc:title>2026</dc:title>
</cp:coreProperties>
</file>